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A568C"/>
                </a:solidFill>
              </a:defRPr>
            </a:pPr>
            <a:r>
              <a:t>RWF Economic Impact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959595"/>
                </a:solidFill>
              </a:defRPr>
            </a:pPr>
            <a:r>
              <a:t>Lifetime Economic Benefits Analysis  •  Updated February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568C"/>
                </a:solidFill>
              </a:defRPr>
            </a:pPr>
            <a:r>
              <a:t>Executive Summary: What We Found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60350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A56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RTE</a:t>
                      </a:r>
                    </a:p>
                  </a:txBody>
                  <a:tcPr>
                    <a:solidFill>
                      <a:srgbClr val="1A56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Apprenticeship</a:t>
                      </a:r>
                    </a:p>
                  </a:txBody>
                  <a:tcPr>
                    <a:solidFill>
                      <a:srgbClr val="1A568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Average LNPV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Rs 14.0 Lakhs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Rs 34.4 Lakhs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Program 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Rs 1.04 Lakhs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Rs 1.58 Lakhs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Average BCR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13.5 : 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21.7 : 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BCR 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5.0 - 27.6 :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11.8 - 33.1 : 1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All 32 scenarios positive?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Yes 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Yes 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5720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4A90D9"/>
                </a:solidFill>
              </a:defRPr>
            </a:pPr>
            <a:r>
              <a:t>💡 BCR = Benefit-Cost Ratio. A BCR of 13.5:1 means every Rs 1 invested generates Rs 13.5 in lifetime benefits.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568C"/>
                </a:solidFill>
              </a:defRPr>
            </a:pPr>
            <a:r>
              <a:t>The Investment Multiplier: Three Legs of Value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6035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Stage</a:t>
                      </a:r>
                    </a:p>
                  </a:txBody>
                  <a:tcPr>
                    <a:solidFill>
                      <a:srgbClr val="1A56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RTE</a:t>
                      </a:r>
                    </a:p>
                  </a:txBody>
                  <a:tcPr>
                    <a:solidFill>
                      <a:srgbClr val="1A56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Apprenticeship</a:t>
                      </a:r>
                    </a:p>
                  </a:txBody>
                  <a:tcPr>
                    <a:solidFill>
                      <a:srgbClr val="1A568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Leg 1: RWF Direct Spend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Rs 4,000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Rs 6,000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Leg 2: Unlocked Funds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Rs 1,04,000 (govt)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Rs 1,58,460 (govt+private)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Leg 3: Lifetime Value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~Rs 14 Lakhs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~Rs 34.4 Lakhs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Ratio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1 : 26 : 350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1 : 26 : 567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5720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4A90D9"/>
                </a:solidFill>
              </a:defRPr>
            </a:pPr>
            <a:r>
              <a:t>💡 Every Rs 1 RWF spends unlocks Rs 26 in government/private funds, which generates Rs 350-567 in lifetime value.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568C"/>
                </a:solidFill>
              </a:defRPr>
            </a:pPr>
            <a:r>
              <a:t>The Challenge: India's Bifurcated Labor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4A90D9"/>
                </a:solidFill>
              </a:defRPr>
            </a:pPr>
            <a:r>
              <a:t>Formal Sector (~10%)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3931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Entry wage: Rs 32,800/month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Annual growth: +1.5%/year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Contracts, PF, ESI, job security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By Year 40: 4× informal wages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00584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4A90D9"/>
                </a:solidFill>
              </a:defRPr>
            </a:pPr>
            <a:r>
              <a:t>Informal Sector (~90%)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463040"/>
            <a:ext cx="3931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Entry wage: Rs 13,425/month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Annual growth: -0.2%/year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No contracts, no benefits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Wage stagnation over career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4A90D9"/>
                </a:solidFill>
              </a:defRPr>
            </a:pPr>
            <a:r>
              <a:t>💡 This is why P(Formal) is our #1 NPV driver — shifting someone to formal employment has larger lifetime effects than any initial wage premium.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568C"/>
                </a:solidFill>
              </a:defRPr>
            </a:pPr>
            <a:r>
              <a:t>How RTE Creates Value</a:t>
            </a:r>
          </a:p>
        </p:txBody>
      </p:sp>
      <p:pic>
        <p:nvPicPr>
          <p:cNvPr id="3" name="Picture 2" descr="decomposition_stacked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0"/>
            <a:ext cx="4114800" cy="23372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18872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Private School → +0.137 SD test score gains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Educational credentials → signaling to employers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Formal sector entry: 30% vs 9.1% baseline (3.3× improvement)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Mincer wage premium: 5.8% per year of quality education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Key Finding: 79% of value comes from formal sector access,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only 21% from improved learning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4A90D9"/>
                </a:solidFill>
              </a:defRPr>
            </a:pPr>
            <a:r>
              <a:t>💡 The primary value of RTE is as a pathway to formal employment, not just better learning. Career guidance can maximize this effect.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568C"/>
                </a:solidFill>
              </a:defRPr>
            </a:pPr>
            <a:r>
              <a:t>RTE Results by Scenario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60350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Scenario</a:t>
                      </a:r>
                    </a:p>
                  </a:txBody>
                  <a:tcPr>
                    <a:solidFill>
                      <a:srgbClr val="1A56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LNPV</a:t>
                      </a:r>
                    </a:p>
                  </a:txBody>
                  <a:tcPr>
                    <a:solidFill>
                      <a:srgbClr val="1A56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BCR</a:t>
                      </a:r>
                    </a:p>
                  </a:txBody>
                  <a:tcPr>
                    <a:solidFill>
                      <a:srgbClr val="1A568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South Male Urban (highest)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Rs 28.7L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27.6 : 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West Male Urban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Rs 22.2L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21.4 : 1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North Female Urban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Rs 11.4L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11.0 : 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East Female Rural (lowest)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Rs 5.2L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5.0 : 1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Average (all 16)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Rs 14.0L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13.5 : 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5720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4A90D9"/>
                </a:solidFill>
              </a:defRPr>
            </a:pPr>
            <a:r>
              <a:t>💡 Even in the most pessimistic scenario (East Female Rural), RTE delivers a 5:1 return — well above the 3:1 threshold for development programs.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568C"/>
                </a:solidFill>
              </a:defRPr>
            </a:pPr>
            <a:r>
              <a:t>How Apprenticeship Creates Value</a:t>
            </a:r>
          </a:p>
        </p:txBody>
      </p:sp>
      <p:pic>
        <p:nvPicPr>
          <p:cNvPr id="3" name="Picture 2" descr="validation_decay_traj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0"/>
            <a:ext cx="4114800" cy="244558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18872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Program → NAC Certification (85% completion)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Employer Absorption: 68% formal placement (vs 9% baseline)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Initial premium: Rs 78,000/year above counterfactual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Premium decays with 12-year half-life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Key Finding: The 68% placement rate creates a 59 p.p.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advantage that dominates the calculation, even with decay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4A90D9"/>
                </a:solidFill>
              </a:defRPr>
            </a:pPr>
            <a:r>
              <a:t>💡 Skill premiums fade over time, but formal sector entry is permanent. That's why Apprenticeship NPV remains high despite decay.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568C"/>
                </a:solidFill>
              </a:defRPr>
            </a:pPr>
            <a:r>
              <a:t>Apprenticeship Results by Scenario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60350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Scenario</a:t>
                      </a:r>
                    </a:p>
                  </a:txBody>
                  <a:tcPr>
                    <a:solidFill>
                      <a:srgbClr val="1A56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LNPV</a:t>
                      </a:r>
                    </a:p>
                  </a:txBody>
                  <a:tcPr>
                    <a:solidFill>
                      <a:srgbClr val="1A56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BCR</a:t>
                      </a:r>
                    </a:p>
                  </a:txBody>
                  <a:tcPr>
                    <a:solidFill>
                      <a:srgbClr val="1A568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South Male Urban (highest)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Rs 52.3L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33.1 : 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West Male Urban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Rs 50.4L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31.9 : 1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North Female Urban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Rs 36.0L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22.8 : 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East Female Rural (lowest)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Rs 18.6L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11.8 : 1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Average (all 16)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Rs 34.4L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21.7 : 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5720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4A90D9"/>
                </a:solidFill>
              </a:defRPr>
            </a:pPr>
            <a:r>
              <a:t>💡 Apprenticeship assumptions are conservative: premium is 33% of theoretical value, half-life is below international benchmarks (15-20 years).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568C"/>
                </a:solidFill>
              </a:defRPr>
            </a:pPr>
            <a:r>
              <a:t>Regional Analysis: Where Returns Are Highest</a:t>
            </a:r>
          </a:p>
        </p:txBody>
      </p:sp>
      <p:pic>
        <p:nvPicPr>
          <p:cNvPr id="3" name="Picture 2" descr="boxplot_reg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7315200" cy="3107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959595"/>
                </a:solidFill>
              </a:defRPr>
            </a:pPr>
            <a:r>
              <a:t>South/West regions show 20-50% higher returns than North/East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6634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4A90D9"/>
                </a:solidFill>
              </a:defRPr>
            </a:pPr>
            <a:r>
              <a:t>💡 Geographic targeting can significantly improve cost-effectiveness. Urban beneficiaries show 30-50% higher LNPV than rural.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568C"/>
                </a:solidFill>
              </a:defRPr>
            </a:pPr>
            <a:r>
              <a:t>Sensitivity Analysis: What Parameters Matter Most?</a:t>
            </a:r>
          </a:p>
        </p:txBody>
      </p:sp>
      <p:pic>
        <p:nvPicPr>
          <p:cNvPr id="3" name="Picture 2" descr="tornado_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4206240" cy="2790803"/>
          </a:xfrm>
          <a:prstGeom prst="rect">
            <a:avLst/>
          </a:prstGeom>
        </p:spPr>
      </p:pic>
      <p:pic>
        <p:nvPicPr>
          <p:cNvPr id="4" name="Picture 3" descr="tornado_apprenticesh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097280"/>
            <a:ext cx="4206240" cy="27908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4114800"/>
            <a:ext cx="4206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959595"/>
                </a:solidFill>
              </a:defRPr>
            </a:pPr>
            <a:r>
              <a:t>RTE: P(Formal) is the top driver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4114800"/>
            <a:ext cx="4206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959595"/>
                </a:solidFill>
              </a:defRPr>
            </a:pPr>
            <a:r>
              <a:t>Apprenticeship: Placement rate dominates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4A90D9"/>
                </a:solidFill>
              </a:defRPr>
            </a:pPr>
            <a:r>
              <a:t>💡 Tornado diagrams show how LNPV changes when each parameter varies across its uncertainty range. Wider bars = more influential parameters.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568C"/>
                </a:solidFill>
              </a:defRPr>
            </a:pPr>
            <a:r>
              <a:t>Uncertainty Quantification: 1,000 Monte Carlo Simulations</a:t>
            </a:r>
          </a:p>
        </p:txBody>
      </p:sp>
      <p:pic>
        <p:nvPicPr>
          <p:cNvPr id="3" name="Picture 2" descr="histogram_monte_carlo_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4206240" cy="2510701"/>
          </a:xfrm>
          <a:prstGeom prst="rect">
            <a:avLst/>
          </a:prstGeom>
        </p:spPr>
      </p:pic>
      <p:pic>
        <p:nvPicPr>
          <p:cNvPr id="4" name="Picture 3" descr="histogram_monte_carlo_apprenticesh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097280"/>
            <a:ext cx="4206240" cy="25107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4114800"/>
            <a:ext cx="4206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959595"/>
                </a:solidFill>
              </a:defRPr>
            </a:pPr>
            <a:r>
              <a:t>RTE: Median Rs 13.6L, 90% CI Rs 5.2-27.5L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4114800"/>
            <a:ext cx="4206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959595"/>
                </a:solidFill>
              </a:defRPr>
            </a:pPr>
            <a:r>
              <a:t>Apprenticeship: Median Rs 40.5L, 90% CI Rs 22-62L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4A90D9"/>
                </a:solidFill>
              </a:defRPr>
            </a:pPr>
            <a:r>
              <a:t>💡 Monte Carlo draws random parameter values 1,000 times to show the distribution of possible outcomes. P(positive) = 100% for both interventions.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568C"/>
                </a:solidFill>
              </a:defRPr>
            </a:pPr>
            <a:r>
              <a:t>Cost-Benefit Positioning: Massive Safety Margin</a:t>
            </a:r>
          </a:p>
        </p:txBody>
      </p:sp>
      <p:pic>
        <p:nvPicPr>
          <p:cNvPr id="3" name="Picture 2" descr="breakeven_bar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7315200" cy="363229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959595"/>
                </a:solidFill>
              </a:defRPr>
            </a:pPr>
            <a:r>
              <a:t>Both interventions operate far below break-even thresholds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6634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4A90D9"/>
                </a:solidFill>
              </a:defRPr>
            </a:pPr>
            <a:r>
              <a:t>💡 Actual costs are 5× below RTE's break-even and 8× below Apprenticeship's break-even at BCR=3:1. Strong investment case.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568C"/>
                </a:solidFill>
              </a:defRPr>
            </a:pPr>
            <a:r>
              <a:t>Dual BCR Analysis: Two Perspectives on ROI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60350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A56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RTE</a:t>
                      </a:r>
                    </a:p>
                  </a:txBody>
                  <a:tcPr>
                    <a:solidFill>
                      <a:srgbClr val="1A56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Apprenticeship</a:t>
                      </a:r>
                    </a:p>
                  </a:txBody>
                  <a:tcPr>
                    <a:solidFill>
                      <a:srgbClr val="1A568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Average LNPV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Rs 14.9 Lakhs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Rs 36.4 Lakhs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Full BCR (Total Investment)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14.3:1 (5.4-29.0)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23.0:1 (12.5-35.0)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RWF-only BCR (Direct Spend)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372:1 (141-755)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606:1 (329-924)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RWF Direct 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Rs 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Rs 6,000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Total Investment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Rs 1.04 Lakhs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Rs 1.58 Lakhs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Unlock Multiplier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26×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39.6×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5720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4A90D9"/>
                </a:solidFill>
              </a:defRPr>
            </a:pPr>
            <a:r>
              <a:t>💡 Full BCR: Total benefits / total costs (RWF + govt + private). RWF-only BCR: Total benefits / RWF direct spend only.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568C"/>
                </a:solidFill>
              </a:defRPr>
            </a:pPr>
            <a:r>
              <a:t>BCR Sensitivity: Discount Rates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8229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Discount Rate</a:t>
                      </a:r>
                    </a:p>
                  </a:txBody>
                  <a:tcPr>
                    <a:solidFill>
                      <a:srgbClr val="1A56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RTE LNPV</a:t>
                      </a:r>
                    </a:p>
                  </a:txBody>
                  <a:tcPr>
                    <a:solidFill>
                      <a:srgbClr val="1A56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RTE BCR (Full)</a:t>
                      </a:r>
                    </a:p>
                  </a:txBody>
                  <a:tcPr>
                    <a:solidFill>
                      <a:srgbClr val="1A56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App LNPV</a:t>
                      </a:r>
                    </a:p>
                  </a:txBody>
                  <a:tcPr>
                    <a:solidFill>
                      <a:srgbClr val="1A56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App BCR (Full)</a:t>
                      </a:r>
                    </a:p>
                  </a:txBody>
                  <a:tcPr>
                    <a:solidFill>
                      <a:srgbClr val="1A568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3% (low)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Rs 32.8L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31.5:1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Rs 74.9L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47.2:1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5% (central)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Rs 23.5L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22.6:1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Rs 53.4L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33.7:1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8% (high)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Rs 15.7L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15.1:1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Rs 35.1L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22.2:1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5720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4A90D9"/>
                </a:solidFill>
              </a:defRPr>
            </a:pPr>
            <a:r>
              <a:t>💡 Even at 8% discount rate (conservative), BCRs remain highly positive. All scenarios exceed the 3:1 development program threshold.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568C"/>
                </a:solidFill>
              </a:defRPr>
            </a:pPr>
            <a:r>
              <a:t>Gender Funnel: Current Data &amp; Key Gaps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4A90D9"/>
                </a:solidFill>
              </a:defRPr>
            </a:pPr>
            <a:r>
              <a:t>Apprenticeship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3931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Mobilized &gt; Registered &gt; Enrolled &gt; Completed &gt; Certified &gt; Placed &gt; Formal &gt; Retained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P(Formal|Apprentice) = 68% (blended)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Gender breakdown: NOT YET AVAILABLE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Female share est. ~30-40% of enrollees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If female P(Formal) is 55% vs 68%, model overstates female NPV by ~24%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005840"/>
            <a:ext cx="3931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4A90D9"/>
                </a:solidFill>
              </a:defRPr>
            </a:pPr>
            <a:r>
              <a:t>RTE Funnel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463040"/>
            <a:ext cx="3931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Mobilized &gt; Enrolled &gt; Completed Gr 8 &gt; Completed Gr 12 &gt; Labor Market &gt; Formal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P(Formal|RTE) = 30% (expert assumption)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Gender breakdown: NOT YET AVAILABLE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Female LFPR = 37% vs 78% male (PLFS)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Gender wage gap: 24% formal, 32% informal (urban)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4A90D9"/>
                </a:solidFill>
              </a:defRPr>
            </a:pPr>
            <a:r>
              <a:t>💡 Immediate action: re-query RWF's 68% placement data by gender. This single data point would improve the model at near-zero cost.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568C"/>
                </a:solidFill>
              </a:defRPr>
            </a:pPr>
            <a:r>
              <a:t>Trade Mix &amp; Skill Half-Life: NPV by Trade Category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80467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A56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Example Trades</a:t>
                      </a:r>
                    </a:p>
                  </a:txBody>
                  <a:tcPr>
                    <a:solidFill>
                      <a:srgbClr val="1A56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Half-Life</a:t>
                      </a:r>
                    </a:p>
                  </a:txBody>
                  <a:tcPr>
                    <a:solidFill>
                      <a:srgbClr val="1A56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NPV vs Baseline</a:t>
                      </a:r>
                    </a:p>
                  </a:txBody>
                  <a:tcPr>
                    <a:solidFill>
                      <a:srgbClr val="1A568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A: Rapid Obsolescence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IT/ITES, Digital Marketing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5-8 yrs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57-84%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B: Moderate Decay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Auto Mechanic, CNC, COPA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8-12 yrs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92-114%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C: Durable Skills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Electrician, Plumber, Welder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12-18 yrs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114-145%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D: Long-Term Persistent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Health Asst, Draughtsman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18-25 yrs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145-170%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5720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4A90D9"/>
                </a:solidFill>
              </a:defRPr>
            </a:pPr>
            <a:r>
              <a:t>💡 National NATS trade mix is dominated by Category C (43% share), suggesting the model baseline (h=10) may be slightly conservative. Weighted avg h ~ 11.4 years.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568C"/>
                </a:solidFill>
              </a:defRPr>
            </a:pPr>
            <a:r>
              <a:t>Trade Mix Scenarios: BCR Impact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Scenario</a:t>
                      </a:r>
                    </a:p>
                  </a:txBody>
                  <a:tcPr>
                    <a:solidFill>
                      <a:srgbClr val="1A56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Weighted h</a:t>
                      </a:r>
                    </a:p>
                  </a:txBody>
                  <a:tcPr>
                    <a:solidFill>
                      <a:srgbClr val="1A56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NPV (approx.)</a:t>
                      </a:r>
                    </a:p>
                  </a:txBody>
                  <a:tcPr>
                    <a:solidFill>
                      <a:srgbClr val="1A56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Full BCR</a:t>
                      </a:r>
                    </a:p>
                  </a:txBody>
                  <a:tcPr>
                    <a:solidFill>
                      <a:srgbClr val="1A56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vs Baseline</a:t>
                      </a:r>
                    </a:p>
                  </a:txBody>
                  <a:tcPr>
                    <a:solidFill>
                      <a:srgbClr val="1A568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IT-Heavy (pessimistic)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9.2 yrs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Rs 7.5L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4.7:1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-6%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Balanced National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11.4 yrs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Rs 8.8L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5.6:1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+10%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Manufacturing-Heavy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15.1 yrs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Rs 10.5L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6.7:1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+32%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Model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10 yrs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Rs 8.0L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5.1:1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--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5720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4A90D9"/>
                </a:solidFill>
              </a:defRPr>
            </a:pPr>
            <a:r>
              <a:t>💡 Steering youth toward durable trades (electrician, plumber, welder) could increase apprenticeship NPV by ~31%.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568C"/>
                </a:solidFill>
              </a:defRPr>
            </a:pPr>
            <a:r>
              <a:t>Top 5 Evidence Sources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A56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Source</a:t>
                      </a:r>
                    </a:p>
                  </a:txBody>
                  <a:tcPr>
                    <a:solidFill>
                      <a:srgbClr val="1A56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Used For</a:t>
                      </a:r>
                    </a:p>
                  </a:txBody>
                  <a:tcPr>
                    <a:solidFill>
                      <a:srgbClr val="1A56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Sample</a:t>
                      </a:r>
                    </a:p>
                  </a:txBody>
                  <a:tcPr>
                    <a:solidFill>
                      <a:srgbClr val="1A56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Confidence</a:t>
                      </a:r>
                    </a:p>
                  </a:txBody>
                  <a:tcPr>
                    <a:solidFill>
                      <a:srgbClr val="1A568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PLFS 2023-24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Baseline wages, employment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~433K individuals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ILO India Employment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Formal entry rates, youth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PLFS microdata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Chen et al. (2022)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Mincer returns (5.8%/yr)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~100K households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MODERATE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Muralidharan (2013)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RTE test score gain (0.137 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18,926 obs (RCT)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MODERATE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RWF Data (Nov 2025)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Placement rate (68%)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RWF participants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5720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4A90D9"/>
                </a:solidFill>
              </a:defRPr>
            </a:pPr>
            <a:r>
              <a:t>💡 Of 12 high-impact parameters, only 1 has HIGH confidence (P_FORMAL_APPRENTICE). The tracer study targets the 3 LOW-confidence parameters.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568C"/>
                </a:solidFill>
              </a:defRPr>
            </a:pPr>
            <a:r>
              <a:t>Tracer Study: Closing the Evidence Gaps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Sample: 1,200-1,600 (300-400 RTE + 300-400 Apprentice + comparison group)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Cohorts: 2015-2024 (expanded vintage for cross-cohort decay estimation)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Priority research questions: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  1. P_FORMAL_RTE validation (currently 30%, zero empirical data)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  2. External validation of P_FORMAL_APPRENTICE (currently 68%)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  3. Trade-specific decay estimation (IT vs electrician vs health)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  4. Gender-disaggregated outcomes (placement, wages, retention)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Timeline: 18 months core  |  Budget: Rs 45-55 lakhs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Expected: reduce parameter uncertainty from +/-50% to +/-15-20%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4A90D9"/>
                </a:solidFill>
              </a:defRPr>
            </a:pPr>
            <a:r>
              <a:t>💡 One investment (Rs 45-55L) closes 7 of 8 evidence gaps simultaneously. This is the single most cost-effective next step.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568C"/>
                </a:solidFill>
              </a:defRPr>
            </a:pPr>
            <a:r>
              <a:t>Policy Persistence: Multi-Cohort Impact (Illustrative)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8229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Scenario</a:t>
                      </a:r>
                    </a:p>
                  </a:txBody>
                  <a:tcPr>
                    <a:solidFill>
                      <a:srgbClr val="1A56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Years Post-Exit</a:t>
                      </a:r>
                    </a:p>
                  </a:txBody>
                  <a:tcPr>
                    <a:solidFill>
                      <a:srgbClr val="1A56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Attribution</a:t>
                      </a:r>
                    </a:p>
                  </a:txBody>
                  <a:tcPr>
                    <a:solidFill>
                      <a:srgbClr val="1A56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Multiplier</a:t>
                      </a:r>
                    </a:p>
                  </a:txBody>
                  <a:tcPr>
                    <a:solidFill>
                      <a:srgbClr val="1A56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Effective BCR (RTE)</a:t>
                      </a:r>
                    </a:p>
                  </a:txBody>
                  <a:tcPr>
                    <a:solidFill>
                      <a:srgbClr val="1A568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Conservative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5 yrs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1.86x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10.2x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10 yrs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4.40x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62.9x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Optimistic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15 yrs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60%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9.31x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395.0x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5720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4A90D9"/>
                </a:solidFill>
              </a:defRPr>
            </a:pPr>
            <a:r>
              <a:t>💡 ILLUSTRATIVE ONLY: Attribution fractions have no empirical basis. Shows how persistence compounds value — single-cohort BCR is a conservative floor.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568C"/>
                </a:solidFill>
              </a:defRPr>
            </a:pPr>
            <a:r>
              <a:t>Ask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1. Approve tracer study launch (Rs 45-55L, 18 months)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   -&gt; Validates the 3 LOW-confidence parameters that drive BCR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2. Request actual cost data (RWF direct spend per beneficiary)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   -&gt; Enables precise RWF-only BCR calculation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3. Re-query 68% placement rate by gender (1-2 weeks, near-zero cost)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   -&gt; Immediate model improvement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4. Microdata access: PLFS unit records + RWF beneficiary contact database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   -&gt; Needed for tracer sampling frame and enhanced calibration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5. Pilot lightweight exit survey for next 2-3 completing cohorts</a:t>
            </a:r>
          </a:p>
          <a:p>
            <a:pPr>
              <a:spcAft>
                <a:spcPts val="1200"/>
              </a:spcAft>
              <a:defRPr sz="1800">
                <a:solidFill>
                  <a:srgbClr val="333333"/>
                </a:solidFill>
              </a:defRPr>
            </a:pPr>
            <a:r>
              <a:t>•    -&gt; Generates gender-disaggregated data before tracer results arrive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568C"/>
                </a:solidFill>
              </a:defRPr>
            </a:pPr>
            <a:r>
              <a:t>Decision Framework: Which Intervention When?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60350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If your priority is...</a:t>
                      </a:r>
                    </a:p>
                  </a:txBody>
                  <a:tcPr>
                    <a:solidFill>
                      <a:srgbClr val="1A56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Consider...</a:t>
                      </a:r>
                    </a:p>
                  </a:txBody>
                  <a:tcPr>
                    <a:solidFill>
                      <a:srgbClr val="1A56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Because...</a:t>
                      </a:r>
                    </a:p>
                  </a:txBody>
                  <a:tcPr>
                    <a:solidFill>
                      <a:srgbClr val="1A568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Max per-beneficiary impact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Apprenticeship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2.5× higher LNPV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Max reach with limited budget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Lower cost, simpler delivery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Serve underserved regions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Targeted Apprenticeship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Higher marginal returns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Long-term systemic change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Generational education shift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Quick wins / demonstrable outcomes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Apprenticeship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Faster employment results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9144000" cy="1828800"/>
          </a:xfrm>
          <a:prstGeom prst="rect">
            <a:avLst/>
          </a:prstGeom>
          <a:solidFill>
            <a:srgbClr val="1A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0312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Appendix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568C"/>
                </a:solidFill>
              </a:defRPr>
            </a:pPr>
            <a:r>
              <a:t>Key Assumptions &amp; Confidence Levels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8229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Parameter</a:t>
                      </a:r>
                    </a:p>
                  </a:txBody>
                  <a:tcPr>
                    <a:solidFill>
                      <a:srgbClr val="1A56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1A56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Range</a:t>
                      </a:r>
                    </a:p>
                  </a:txBody>
                  <a:tcPr>
                    <a:solidFill>
                      <a:srgbClr val="1A56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Confidence</a:t>
                      </a:r>
                    </a:p>
                  </a:txBody>
                  <a:tcPr>
                    <a:solidFill>
                      <a:srgbClr val="1A568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Tracer?</a:t>
                      </a:r>
                    </a:p>
                  </a:txBody>
                  <a:tcPr>
                    <a:solidFill>
                      <a:srgbClr val="1A568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P(Formal|RTE)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30%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20-50%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P(Formal|Apprentice)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68%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50-90%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Decay Half-Life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10 yrs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5-50 yrs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Partial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RTE Retention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60%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50-75%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Completion Rate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85%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75-95%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Mincer Return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5.8%/yr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5-8%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Discount Rate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3-8%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MODERATE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Wage Growth (Formal)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1.5%/yr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0.5-2.5%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5720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4A90D9"/>
                </a:solidFill>
              </a:defRPr>
            </a:pPr>
            <a:r>
              <a:t>💡 Of 12 high-impact parameters, only 1 has HIGH confidence. The tracer study (Rs 45-55L) would validate the 4 most uncertain parameters.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A568C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959595"/>
                </a:solidFill>
              </a:defRPr>
            </a:pPr>
            <a:r>
              <a:t>Both interventions generate positive returns in ALL 32 scenarios tested.</a:t>
            </a:r>
            <a:br/>
            <a:r>
              <a:t>The key question is how to optimize delivery for maximum impact.</a:t>
            </a:r>
            <a:br/>
            <a:br/>
            <a:r>
              <a:t>RWF Economic Impact Model  •  February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