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68C"/>
                </a:solidFill>
              </a:defRPr>
            </a:pPr>
            <a:r>
              <a:t>RWF Economic Impact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59595"/>
                </a:solidFill>
              </a:defRPr>
            </a:pPr>
            <a:r>
              <a:t>Lifetime Economic Benefits Analysis  •  Proof-of-Concept for Founders  • 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Executive Summary: What We Found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RTE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Apprenticeship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Average LNPV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14.0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34.4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Program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1.04 Lakhs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1.58 Lakhs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Average BCR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13.5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21.7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BCR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5.0 - 27.6 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11.8 - 33.1 :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All 32 scenarios positive?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BCR = Benefit-Cost Ratio. A BCR of 13.5:1 means every Rs 1 invested generates Rs 13.5 in lifetime benefits.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The Investment Multiplier: Three Legs of Value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RTE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Apprenticeship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Leg 1: RWF Direct Spend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4,000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6,000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Leg 2: Unlocked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1,04,000 (govt)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1,58,460 (govt+private)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Leg 3: Lifetime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~Rs 14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~Rs 34.4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 : 26 : 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 : 26 : 567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Every Rs 1 RWF spends unlocks Rs 26 in government/private funds, which generates Rs 350-567 in lifetime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The Challenge: India's Bifurcated Labor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90D9"/>
                </a:solidFill>
              </a:defRPr>
            </a:pPr>
            <a:r>
              <a:t>Formal Sector (~10%)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Entry wage: Rs 32,800/month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Annual growth: +1.5%/year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Contracts, PF, ESI, job security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By Year 40: 4× informal wages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90D9"/>
                </a:solidFill>
              </a:defRPr>
            </a:pPr>
            <a:r>
              <a:t>Informal Sector (~90%)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Entry wage: Rs 13,425/month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Annual growth: -0.2%/year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contracts, no benefits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Wage stagnation over career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This is why P(Formal) is our #1 NPV driver — shifting someone to formal employment has larger lifetime effects than any initial wage premium.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How RTE Creates Value</a:t>
            </a:r>
          </a:p>
        </p:txBody>
      </p:sp>
      <p:pic>
        <p:nvPicPr>
          <p:cNvPr id="3" name="Picture 2" descr="decomposition_stack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23372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Private School → +0.137 SD test score gains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Educational credentials → signaling to employers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Formal sector entry: 30% vs 9.1% baseline (3.3× improvement)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Mincer wage premium: 5.8% per year of quality education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Key Finding: 79% of value comes from formal sector access,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only 21% from improved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The primary value of RTE is as a pathway to formal employment, not just better learning. Career guidance can maximize this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RTE Results by Scenario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LNPV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South Male Urban (highest)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28.7L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27.6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West Male 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22.2L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21.4 :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North Female Urban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11.4L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11.0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East Female Rural (lowest)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5.2L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5.0 :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Average (all 16)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14.0L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13.5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Even in the most pessimistic scenario (East Female Rural), RTE delivers a 5:1 return — well above the 3:1 threshold for development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How Apprenticeship Creates Value</a:t>
            </a:r>
          </a:p>
        </p:txBody>
      </p:sp>
      <p:pic>
        <p:nvPicPr>
          <p:cNvPr id="3" name="Picture 2" descr="validation_decay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2445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Program → NAC Certification (85% completion)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Employer Absorption: 68% formal placement (vs 9% baseline)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Initial premium: Rs 78,000/year above counterfactual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Premium decays with 12-year half-life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Key Finding: The 68% placement rate creates a 59 p.p.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advantage that dominates the calculation, even with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Skill premiums fade over time, but formal sector entry is permanent. That's why Apprenticeship NPV remains high despite decay.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Apprenticeship Results by Scenario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LNPV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South Male Urban (highest)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52.3L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33.1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West Male 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50.4L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31.9 :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North Female Urban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36.0L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22.8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East Female Rural (lowest)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18.6L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11.8 :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Average (all 16)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34.4L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21.7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Apprenticeship assumptions are conservative: premium is 33% of theoretical value, half-life is below international benchmarks (15-20 years).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Regional Analysis: Where Returns Are Highest</a:t>
            </a:r>
          </a:p>
        </p:txBody>
      </p:sp>
      <p:pic>
        <p:nvPicPr>
          <p:cNvPr id="3" name="Picture 2" descr="boxplot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107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9595"/>
                </a:solidFill>
              </a:defRPr>
            </a:pPr>
            <a:r>
              <a:t>South/West regions show 20-50% higher returns than North/East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Geographic targeting can significantly improve cost-effectiveness. Urban beneficiaries show 30-50% higher LNPV than rural.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Sensitivity Analysis: What Parameters Matter Most?</a:t>
            </a:r>
          </a:p>
        </p:txBody>
      </p:sp>
      <p:pic>
        <p:nvPicPr>
          <p:cNvPr id="3" name="Picture 2" descr="tornado_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206240" cy="2790803"/>
          </a:xfrm>
          <a:prstGeom prst="rect">
            <a:avLst/>
          </a:prstGeom>
        </p:spPr>
      </p:pic>
      <p:pic>
        <p:nvPicPr>
          <p:cNvPr id="4" name="Picture 3" descr="tornado_apprentice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206240" cy="2790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9595"/>
                </a:solidFill>
              </a:defRPr>
            </a:pPr>
            <a:r>
              <a:t>RTE: P(Formal) is the top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9595"/>
                </a:solidFill>
              </a:defRPr>
            </a:pPr>
            <a:r>
              <a:t>Apprenticeship: Placement rate dominates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Tornado diagrams show how LNPV changes when each parameter varies across its uncertainty range. Wider bars = more influential parameters.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Uncertainty Quantification: 1,000 Monte Carlo Simulations</a:t>
            </a:r>
          </a:p>
        </p:txBody>
      </p:sp>
      <p:pic>
        <p:nvPicPr>
          <p:cNvPr id="3" name="Picture 2" descr="histogram_monte_carlo_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206240" cy="2510701"/>
          </a:xfrm>
          <a:prstGeom prst="rect">
            <a:avLst/>
          </a:prstGeom>
        </p:spPr>
      </p:pic>
      <p:pic>
        <p:nvPicPr>
          <p:cNvPr id="4" name="Picture 3" descr="histogram_monte_carlo_apprentice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206240" cy="2510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9595"/>
                </a:solidFill>
              </a:defRPr>
            </a:pPr>
            <a:r>
              <a:t>RTE: Median Rs 13.6L, 90% CI Rs 5.2-27.5L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9595"/>
                </a:solidFill>
              </a:defRPr>
            </a:pPr>
            <a:r>
              <a:t>Apprenticeship: Median Rs 40.5L, 90% CI Rs 22-62L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Monte Carlo draws random parameter values 1,000 times to show the distribution of possible outcomes. P(positive) = 100% for both interventions.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Cost-Benefit Positioning: Massive Safety Margin</a:t>
            </a:r>
          </a:p>
        </p:txBody>
      </p:sp>
      <p:pic>
        <p:nvPicPr>
          <p:cNvPr id="3" name="Picture 2" descr="breakeve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322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9595"/>
                </a:solidFill>
              </a:defRPr>
            </a:pPr>
            <a:r>
              <a:t>Both interventions operate far below break-even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Actual costs are 5× below RTE's break-even and 8× below Apprenticeship's break-even at BCR=3:1. Strong investment case.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Dual BCR Analysis: Two Perspectives on ROI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RTE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Apprenticeship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Average LNPV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14.9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36.4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Full BCR (Total Investment)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14.3:1 (5.4-29.0)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23.0:1 (12.5-35.0)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RWF-only BCR (Direct Spend)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372:1 (141-755)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606:1 (329-924)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RWF Direct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6,000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Total Investment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1.04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1.58 Lakhs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Unlock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26×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39.6×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Full BCR: Total benefits / total costs (RWF + govt + private). RWF-only BCR: Total benefits / RWF direct spend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BCR Sensitivity: Discount Rates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Discount Rate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RTE LNPV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RTE BCR (Full)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 LNPV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 BCR (Full)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3% (low)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32.8L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31.5:1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74.9L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47.2:1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5% (central)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23.5L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22.6:1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53.4L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33.7:1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8% (high)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15.7L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15.1:1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Rs 35.1L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22.2:1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A90D9"/>
                </a:solidFill>
              </a:defRPr>
            </a:pPr>
            <a:r>
              <a:t>💡 Even at 8% discount rate (conservative), BCRs remain highly positive. All scenarios exceed the 3:1 development program threshold.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Decision Framework: Which Intervention When?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If your priority is...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Consider...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Because...</a:t>
                      </a:r>
                    </a:p>
                  </a:txBody>
                  <a:tcPr>
                    <a:solidFill>
                      <a:srgbClr val="1A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 per-beneficiary impact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Apprenticeship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2.5× higher LNPV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 reach with limited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Lower cost, simpler delivery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Serve underserved regions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Targeted Apprenticeship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Higher marginal returns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Long-term systemic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Generational education shift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Quick wins / demonstrable outcomes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Apprenticeship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Faster employment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8C"/>
                </a:solidFill>
              </a:defRPr>
            </a:pPr>
            <a:r>
              <a:t>Strategic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1. Both interventions justify continued investment — positive returns in all 32 scenarios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2. Geographic targeting matters — South/West urban returns are 50%+ higher than North/East rural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3. Formal sector pathway is key — consider adding career guidance and placement support to RTE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 For Apprenticeship, focus on durable skills (electrical, plumbing, welding) over rapidly-changing tech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5. Priority: Longitudinal Tracer Study (200-300 beneficiaries, 1-2 years, Rs 5-8L cost)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→ Would reduce uncertainty by 50%+ and validate P(Formal) assumptions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68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59595"/>
                </a:solidFill>
              </a:defRPr>
            </a:pPr>
            <a:r>
              <a:t>The key question isn't whether these interventions work —</a:t>
            </a:r>
            <a:br/>
            <a:r>
              <a:t>it's how to optimize their delivery for maximum impact.</a:t>
            </a:r>
            <a:br/>
            <a:br/>
            <a:r>
              <a:t>RWF Economic Impact Model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